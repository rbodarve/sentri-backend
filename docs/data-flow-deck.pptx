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7553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walkthrough of the ragtest pipeline for a non-technical audience. Technical terms: RAG (retrieval-augmented generation) over DPWH bid documents, built on LlamaIndex, running locally with Ollama. Source: CLAUDE.md.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 PDFs in source/ with 283 pages in total (pdfinfo). 6 contracts: 24A00153, 24AJ0052, 24BG0272, 24BJ0005, 24CC0265, 24CM0001 (index_store/manifest.json; make check). rag/enrich.py notes that about 90% of OCR chunks do not name their own contract and that the 6 contracts share the same document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Offline (make build): OCR JSON in database/ -&gt; stages 1-3 (loader, enrich, relationships) -&gt; vector index and corpus manifest in index_store/. Online (make ask / make agent / the SSE API): route -&gt; retrieve + rerank -&gt; generate -&gt; Verifier. Sources: CLAUDE.md, scripts/build.sh.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database/*.json (38 files) is the authoritative OCR transcription; OCR was done before this repo (no OCR code here). Chunks are UUID-keyed under text/table/image/signature with a content field: 289 text, 9 table, 21 image, 82 signature = 401 (make check). rag/loader.py makes one node per chunk; rag/enrich.py derives contract_id and doc_type from the file name; rag/relationships.py links pieces in reading order (PREV/NEXT). .claude/verify.sh checks the JSON structure every turn and never re-OCRs.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Catalogue = vector index: each piece is embedded with BAAI/bge-small-en-v1.5 on CPU (rag/index.py) and persisted to index_store/. The embedding sees only the text; contract identity is metadata used as a filter (the 'drawer'). 6 synthetic signatory-summary nodes are added, one per contract. Fact sheet = corpus manifest (rag/manifest.py): one LLM extraction per contract with granite4.1:3b via Ollama, 6 rows in index_store/manifest.json. Fields: contract_name, location, implementing_office, contractor, amount (+ doc_types). Runs last in make build and needs Ollama.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rag/generate.py RagAnswerer: route() resolves contract_id from an explicit id or a unique location token in the manifest and strips the id from the search text. Retrieval = vector search, 40 candidates (RERANK_CANDIDATES), with a contract_id metadata filter. Second reader = CPU cross-encoder BAAI/bge-reranker-base, 40 -&gt; top 10 (rag/rerank.py). Context = contract id + manifest + hits, trimmed so it fits one num_ctx 4096 call, with reading-order neighbours for the top 3. Writer = granite4.1:3b, temperature 0.0, prompt says use ONLY the context and name the source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rag/agent.py AgenticRag. A rule-based router picks one of five routes: simple, fanout (a list of contract ids, or 'each project', split by rule into one sub-question per contract), semantic (multi-part question split by the LLM, the only place the LLM drives control, then combined), enumerate (list-all answered from the manifest, no LLM), analytical (corpus-wide pattern, one pass over the whole manifest). Each sub-answer passes the Verifier. The combine prompt forbids sums; aggregation is deferred to the handoff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rag/verify.py Verifier checks relational claims against the manifest. BLOCK tier: the answer names a contract_id not in the corpus (zero false positives). FLAG tier: a contract bound to another contract's location or contractor; the manifest is itself LLM-extracted, so this can occasionally hold back a correct answer, which the project accepts. Open-ended claims (materials, clauses, counts) are not checked here. Retry ladder (rag/agent.py): filtered top 10 -&gt; widened top 20 -&gt; drop the contract filter (only when no known contract was identified) -&gt; withhold. The SSE service only streams an answer after it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make eval, rerank mode, run 2026-09-24: 'GATE (single recall) hit_rate=1.000' over the 20 single-fact questions in eval/eval_retrieval.json (hit = at least one answer-bearing chunk in the top 10). Broad and complex questions also scored hit_rate 1.000 but that is lenient (any one needed page); full-answer coverage is lower (broad 0.366, complex 0.597). Right: make eval-agentic, run 2026-09-24: 9 questions, pass_rate 0.778. Failures: fanout 'contracts 24AJ0052, 24BG0272 and 24CM0001' missed 24CM0001; semantic '24BG0272 contractor + 24AJ0052 District Engineer' was withheld by the Verifier. Both withhold (trick) questions passed. This is a single run with no earlier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CPU-only by design: CPU torch for embedding and reranking; generation runs on a local Ollama server (granite4.1:3b, num_ctx capped at 4096; rag/config.py notes it fits a 4GB GPU). Models are downloaded once, then run locally. database/*.json is the authoritative OCR transcription and is never re-OCR'd. Sums are deferred to the handoff model on purpose. Models are config-driven via RAG_* env vars (RAG_EMBED_MODEL, RAG_RERANK_MODEL, RAG_GEN_MODEL), so stronger ones can be swapped in without code changes. Sources: CLAUDE.md, rag/config.py, rag/verify.py.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Asking questions of the bid documents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659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assistant finds facts in six DPWH construction contracts, and why it says “I don’t know” instead of guessing.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154680"/>
            <a:ext cx="640080" cy="64008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33211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3886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bids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298448" y="3474720"/>
            <a:ext cx="969264" cy="0"/>
          </a:xfrm>
          <a:prstGeom prst="line">
            <a:avLst/>
          </a:prstGeom>
          <a:noFill/>
          <a:ln w="22225">
            <a:solidFill>
              <a:srgbClr val="6B7C8C"/>
            </a:solidFill>
            <a:prstDash val="solid"/>
            <a:tailEnd type="triangle"/>
          </a:ln>
        </p:spPr>
        <p:txBody>
          <a:bodyPr/>
          <a:lstStyle/>
          <a:p>
            <a:endParaRPr lang="en-PH"/>
          </a:p>
        </p:txBody>
      </p:sp>
      <p:sp>
        <p:nvSpPr>
          <p:cNvPr id="8" name="Shape 5"/>
          <p:cNvSpPr/>
          <p:nvPr/>
        </p:nvSpPr>
        <p:spPr>
          <a:xfrm>
            <a:off x="2377440" y="3154680"/>
            <a:ext cx="640080" cy="64008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861" y="332110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03120" y="3886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Catalogued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127248" y="3474720"/>
            <a:ext cx="969264" cy="0"/>
          </a:xfrm>
          <a:prstGeom prst="line">
            <a:avLst/>
          </a:prstGeom>
          <a:noFill/>
          <a:ln w="22225">
            <a:solidFill>
              <a:srgbClr val="6B7C8C"/>
            </a:solidFill>
            <a:prstDash val="solid"/>
            <a:tailEnd type="triangle"/>
          </a:ln>
        </p:spPr>
        <p:txBody>
          <a:bodyPr/>
          <a:lstStyle/>
          <a:p>
            <a:endParaRPr lang="en-PH"/>
          </a:p>
        </p:txBody>
      </p:sp>
      <p:sp>
        <p:nvSpPr>
          <p:cNvPr id="12" name="Shape 8"/>
          <p:cNvSpPr/>
          <p:nvPr/>
        </p:nvSpPr>
        <p:spPr>
          <a:xfrm>
            <a:off x="4206240" y="3154680"/>
            <a:ext cx="640080" cy="64008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2661" y="332110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931920" y="3886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956048" y="3474720"/>
            <a:ext cx="969264" cy="0"/>
          </a:xfrm>
          <a:prstGeom prst="line">
            <a:avLst/>
          </a:prstGeom>
          <a:noFill/>
          <a:ln w="22225">
            <a:solidFill>
              <a:srgbClr val="6B7C8C"/>
            </a:solidFill>
            <a:prstDash val="solid"/>
            <a:tailEnd type="triangle"/>
          </a:ln>
        </p:spPr>
        <p:txBody>
          <a:bodyPr/>
          <a:lstStyle/>
          <a:p>
            <a:endParaRPr lang="en-PH"/>
          </a:p>
        </p:txBody>
      </p:sp>
      <p:sp>
        <p:nvSpPr>
          <p:cNvPr id="16" name="Shape 11"/>
          <p:cNvSpPr/>
          <p:nvPr/>
        </p:nvSpPr>
        <p:spPr>
          <a:xfrm>
            <a:off x="6035040" y="3154680"/>
            <a:ext cx="640080" cy="640080"/>
          </a:xfrm>
          <a:prstGeom prst="ellipse">
            <a:avLst/>
          </a:prstGeom>
          <a:solidFill>
            <a:srgbClr val="D9731A"/>
          </a:solidFill>
          <a:ln w="12700">
            <a:solidFill>
              <a:srgbClr val="D9731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1461" y="332110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760720" y="3886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answer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facts are scattered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EEF2F5"/>
          </a:solidFill>
          <a:ln w="12700">
            <a:solidFill>
              <a:srgbClr val="DDE7E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B7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files (PDF)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46120" y="123444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EEF2F5"/>
          </a:solidFill>
          <a:ln w="12700">
            <a:solidFill>
              <a:srgbClr val="DDE7E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 txBox="1"/>
          <p:nvPr/>
        </p:nvSpPr>
        <p:spPr>
          <a:xfrm>
            <a:off x="3246120" y="13258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B7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283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103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pages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123444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EEF2F5"/>
          </a:solidFill>
          <a:ln w="12700">
            <a:solidFill>
              <a:srgbClr val="DDE7E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 txBox="1"/>
          <p:nvPr/>
        </p:nvSpPr>
        <p:spPr>
          <a:xfrm>
            <a:off x="6035040" y="13258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B7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103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2608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winner, the amount and the signatories sit on different pages and in different documents.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contracts use the same templates, so pages from different contracts look alike.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one fact by hand means leafing through a stack of scans.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DDE7EE"/>
          </a:solidFill>
          <a:ln w="12700">
            <a:solidFill>
              <a:srgbClr val="DDE7E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once, in advance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137160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FBE9DA"/>
          </a:solidFill>
          <a:ln w="12700">
            <a:solidFill>
              <a:srgbClr val="FBE9D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 txBox="1"/>
          <p:nvPr/>
        </p:nvSpPr>
        <p:spPr>
          <a:xfrm>
            <a:off x="4663440" y="1371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you ask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1005840" cy="10058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918" y="2364638"/>
            <a:ext cx="482803" cy="482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documents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703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up once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011680" y="2606040"/>
            <a:ext cx="914400" cy="0"/>
          </a:xfrm>
          <a:prstGeom prst="line">
            <a:avLst/>
          </a:prstGeom>
          <a:noFill/>
          <a:ln w="28575">
            <a:solidFill>
              <a:srgbClr val="8A96A3"/>
            </a:solidFill>
            <a:prstDash val="solid"/>
            <a:tailEnd type="triangle"/>
          </a:ln>
        </p:spPr>
        <p:txBody>
          <a:bodyPr/>
          <a:lstStyle/>
          <a:p>
            <a:endParaRPr lang="en-PH"/>
          </a:p>
        </p:txBody>
      </p:sp>
      <p:sp>
        <p:nvSpPr>
          <p:cNvPr id="12" name="Shape 9"/>
          <p:cNvSpPr/>
          <p:nvPr/>
        </p:nvSpPr>
        <p:spPr>
          <a:xfrm>
            <a:off x="3017520" y="2103120"/>
            <a:ext cx="1005840" cy="10058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9038" y="2364638"/>
            <a:ext cx="482803" cy="482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56032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2560320" y="3703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catalogued and tagged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114800" y="2606040"/>
            <a:ext cx="914400" cy="0"/>
          </a:xfrm>
          <a:prstGeom prst="line">
            <a:avLst/>
          </a:prstGeom>
          <a:noFill/>
          <a:ln w="28575">
            <a:solidFill>
              <a:srgbClr val="8A96A3"/>
            </a:solidFill>
            <a:prstDash val="solid"/>
            <a:tailEnd type="triangle"/>
          </a:ln>
        </p:spPr>
        <p:txBody>
          <a:bodyPr/>
          <a:lstStyle/>
          <a:p>
            <a:endParaRPr lang="en-PH"/>
          </a:p>
        </p:txBody>
      </p:sp>
      <p:sp>
        <p:nvSpPr>
          <p:cNvPr id="17" name="Shape 13"/>
          <p:cNvSpPr/>
          <p:nvPr/>
        </p:nvSpPr>
        <p:spPr>
          <a:xfrm>
            <a:off x="5120640" y="2103120"/>
            <a:ext cx="1005840" cy="100584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2158" y="2364638"/>
            <a:ext cx="482803" cy="482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66344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question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4663440" y="3703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217920" y="2606040"/>
            <a:ext cx="914400" cy="0"/>
          </a:xfrm>
          <a:prstGeom prst="line">
            <a:avLst/>
          </a:prstGeom>
          <a:noFill/>
          <a:ln w="28575">
            <a:solidFill>
              <a:srgbClr val="8A96A3"/>
            </a:solidFill>
            <a:prstDash val="solid"/>
            <a:tailEnd type="triangle"/>
          </a:ln>
        </p:spPr>
        <p:txBody>
          <a:bodyPr/>
          <a:lstStyle/>
          <a:p>
            <a:endParaRPr lang="en-PH"/>
          </a:p>
        </p:txBody>
      </p:sp>
      <p:sp>
        <p:nvSpPr>
          <p:cNvPr id="22" name="Shape 17"/>
          <p:cNvSpPr/>
          <p:nvPr/>
        </p:nvSpPr>
        <p:spPr>
          <a:xfrm>
            <a:off x="7223760" y="2103120"/>
            <a:ext cx="1005840" cy="1005840"/>
          </a:xfrm>
          <a:prstGeom prst="ellipse">
            <a:avLst/>
          </a:prstGeom>
          <a:solidFill>
            <a:srgbClr val="D9731A"/>
          </a:solidFill>
          <a:ln w="12700">
            <a:solidFill>
              <a:srgbClr val="D9731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5278" y="2364638"/>
            <a:ext cx="482803" cy="48280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76656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answer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6766560" y="3703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sources, or “I don’t know”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the scans are typed up once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148840"/>
            <a:ext cx="1005840" cy="10058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2410358"/>
            <a:ext cx="482803" cy="482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20040" y="3246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page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691640" y="2651760"/>
            <a:ext cx="548640" cy="0"/>
          </a:xfrm>
          <a:prstGeom prst="line">
            <a:avLst/>
          </a:prstGeom>
          <a:noFill/>
          <a:ln w="28575">
            <a:solidFill>
              <a:srgbClr val="8A96A3"/>
            </a:solidFill>
            <a:prstDash val="solid"/>
            <a:tailEnd type="triangle"/>
          </a:ln>
        </p:spPr>
        <p:txBody>
          <a:bodyPr/>
          <a:lstStyle/>
          <a:p>
            <a:endParaRPr lang="en-PH"/>
          </a:p>
        </p:txBody>
      </p:sp>
      <p:sp>
        <p:nvSpPr>
          <p:cNvPr id="7" name="Shape 4"/>
          <p:cNvSpPr/>
          <p:nvPr/>
        </p:nvSpPr>
        <p:spPr>
          <a:xfrm>
            <a:off x="2331720" y="155448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EEF2F5"/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5"/>
          <p:cNvSpPr txBox="1"/>
          <p:nvPr/>
        </p:nvSpPr>
        <p:spPr>
          <a:xfrm>
            <a:off x="2468880" y="16093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9019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· document · page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31720" y="233172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EEF2F5"/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8"/>
          <p:cNvSpPr txBox="1"/>
          <p:nvPr/>
        </p:nvSpPr>
        <p:spPr>
          <a:xfrm>
            <a:off x="2468880" y="23865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26791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· document · page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331720" y="310896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EEF2F5"/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1"/>
          <p:cNvSpPr txBox="1"/>
          <p:nvPr/>
        </p:nvSpPr>
        <p:spPr>
          <a:xfrm>
            <a:off x="2468880" y="31638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block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34564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· document · page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146304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scanned pages were already turned into typed text by a hybrid of OCR (software that reads text from an image) + human annotation.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text is split into 401 pieces, and each is tagged with its contract, document and page.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typed copy is the official record. The scans are never re-read.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build a card catalogue and a fact sheet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EEF2F5"/>
          </a:solidFill>
          <a:ln w="12700">
            <a:solidFill>
              <a:srgbClr val="DDE7E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31520" cy="73152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" y="156179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371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catalogue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317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gets a card that captures its meaning.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 for “who won” also finds “awarded to”.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are grouped in one drawer per contract.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EEF2F5"/>
          </a:solidFill>
          <a:ln w="12700">
            <a:solidFill>
              <a:srgbClr val="DDE7E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Shape 6"/>
          <p:cNvSpPr/>
          <p:nvPr/>
        </p:nvSpPr>
        <p:spPr>
          <a:xfrm>
            <a:off x="4937760" y="1371600"/>
            <a:ext cx="731520" cy="73152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7955" y="156179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52160" y="1371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fact sheet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3317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contract: name, place, office, contractor, amount.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in by the AI writer (software that reads and writes text).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it can’t find is marked “not stated”.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question gets answered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2697480"/>
          </a:xfrm>
          <a:prstGeom prst="roundRect">
            <a:avLst>
              <a:gd name="adj" fmla="val 4762"/>
            </a:avLst>
          </a:prstGeom>
          <a:solidFill>
            <a:srgbClr val="EEF2F5"/>
          </a:solidFill>
          <a:ln w="12700">
            <a:solidFill>
              <a:srgbClr val="DDE7E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Shape 2"/>
          <p:cNvSpPr/>
          <p:nvPr/>
        </p:nvSpPr>
        <p:spPr>
          <a:xfrm>
            <a:off x="1051560" y="1371600"/>
            <a:ext cx="731520" cy="73152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755" y="156179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128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contract?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6060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the contract number or a place name, like Olongapo City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395728" y="2542032"/>
            <a:ext cx="146304" cy="0"/>
          </a:xfrm>
          <a:prstGeom prst="line">
            <a:avLst/>
          </a:prstGeom>
          <a:noFill/>
          <a:ln w="25400">
            <a:solidFill>
              <a:srgbClr val="8A96A3"/>
            </a:solidFill>
            <a:prstDash val="solid"/>
            <a:tailEnd type="triangle"/>
          </a:ln>
        </p:spPr>
        <p:txBody>
          <a:bodyPr/>
          <a:lstStyle/>
          <a:p>
            <a:endParaRPr lang="en-PH"/>
          </a:p>
        </p:txBody>
      </p:sp>
      <p:sp>
        <p:nvSpPr>
          <p:cNvPr id="9" name="Shape 6"/>
          <p:cNvSpPr/>
          <p:nvPr/>
        </p:nvSpPr>
        <p:spPr>
          <a:xfrm>
            <a:off x="2560320" y="1188720"/>
            <a:ext cx="1920240" cy="2697480"/>
          </a:xfrm>
          <a:prstGeom prst="roundRect">
            <a:avLst>
              <a:gd name="adj" fmla="val 4762"/>
            </a:avLst>
          </a:prstGeom>
          <a:solidFill>
            <a:srgbClr val="EEF2F5"/>
          </a:solidFill>
          <a:ln w="12700">
            <a:solidFill>
              <a:srgbClr val="DDE7E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Shape 7"/>
          <p:cNvSpPr/>
          <p:nvPr/>
        </p:nvSpPr>
        <p:spPr>
          <a:xfrm>
            <a:off x="3154680" y="1371600"/>
            <a:ext cx="731520" cy="73152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4875" y="156179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51760" y="22128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cards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26060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few dozen likely pieces from that contract’s drawer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498848" y="2542032"/>
            <a:ext cx="146304" cy="0"/>
          </a:xfrm>
          <a:prstGeom prst="line">
            <a:avLst/>
          </a:prstGeom>
          <a:noFill/>
          <a:ln w="25400">
            <a:solidFill>
              <a:srgbClr val="8A96A3"/>
            </a:solidFill>
            <a:prstDash val="solid"/>
            <a:tailEnd type="triangle"/>
          </a:ln>
        </p:spPr>
        <p:txBody>
          <a:bodyPr/>
          <a:lstStyle/>
          <a:p>
            <a:endParaRPr lang="en-PH"/>
          </a:p>
        </p:txBody>
      </p:sp>
      <p:sp>
        <p:nvSpPr>
          <p:cNvPr id="15" name="Shape 11"/>
          <p:cNvSpPr/>
          <p:nvPr/>
        </p:nvSpPr>
        <p:spPr>
          <a:xfrm>
            <a:off x="4663440" y="1188720"/>
            <a:ext cx="1920240" cy="2697480"/>
          </a:xfrm>
          <a:prstGeom prst="roundRect">
            <a:avLst>
              <a:gd name="adj" fmla="val 4762"/>
            </a:avLst>
          </a:prstGeom>
          <a:solidFill>
            <a:srgbClr val="EEF2F5"/>
          </a:solidFill>
          <a:ln w="12700">
            <a:solidFill>
              <a:srgbClr val="DDE7E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Shape 12"/>
          <p:cNvSpPr/>
          <p:nvPr/>
        </p:nvSpPr>
        <p:spPr>
          <a:xfrm>
            <a:off x="5257800" y="1371600"/>
            <a:ext cx="731520" cy="73152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995" y="156179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754880" y="22128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reader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800600" y="26060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Re-reads them and shortlists the best handful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601968" y="2542032"/>
            <a:ext cx="146304" cy="0"/>
          </a:xfrm>
          <a:prstGeom prst="line">
            <a:avLst/>
          </a:prstGeom>
          <a:noFill/>
          <a:ln w="25400">
            <a:solidFill>
              <a:srgbClr val="8A96A3"/>
            </a:solidFill>
            <a:prstDash val="solid"/>
            <a:tailEnd type="triangle"/>
          </a:ln>
        </p:spPr>
        <p:txBody>
          <a:bodyPr/>
          <a:lstStyle/>
          <a:p>
            <a:endParaRPr lang="en-PH"/>
          </a:p>
        </p:txBody>
      </p:sp>
      <p:sp>
        <p:nvSpPr>
          <p:cNvPr id="21" name="Shape 16"/>
          <p:cNvSpPr/>
          <p:nvPr/>
        </p:nvSpPr>
        <p:spPr>
          <a:xfrm>
            <a:off x="6766560" y="1188720"/>
            <a:ext cx="1920240" cy="2697480"/>
          </a:xfrm>
          <a:prstGeom prst="roundRect">
            <a:avLst>
              <a:gd name="adj" fmla="val 4762"/>
            </a:avLst>
          </a:prstGeom>
          <a:solidFill>
            <a:srgbClr val="EEF2F5"/>
          </a:solidFill>
          <a:ln w="12700">
            <a:solidFill>
              <a:srgbClr val="DDE7E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Shape 17"/>
          <p:cNvSpPr/>
          <p:nvPr/>
        </p:nvSpPr>
        <p:spPr>
          <a:xfrm>
            <a:off x="7360920" y="1371600"/>
            <a:ext cx="731520" cy="73152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1115" y="1561795"/>
            <a:ext cx="351130" cy="35113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58000" y="22128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answer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6903720" y="26060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those pieces only, naming the documents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one contract’s drawer keeps look-alike pages from other contracts out of the answer.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Harder questions are broken into simple 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20574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won contracts A, B and C?”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88920" y="128016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EEF2F5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 txBox="1"/>
          <p:nvPr/>
        </p:nvSpPr>
        <p:spPr>
          <a:xfrm>
            <a:off x="278892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won A?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 flipV="1">
            <a:off x="2377440" y="1600200"/>
            <a:ext cx="411480" cy="91440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4251960" y="1600200"/>
            <a:ext cx="411480" cy="91440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2788920" y="214884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EEF2F5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 txBox="1"/>
          <p:nvPr/>
        </p:nvSpPr>
        <p:spPr>
          <a:xfrm>
            <a:off x="2788920" y="2148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won B?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flipV="1">
            <a:off x="2377440" y="2468880"/>
            <a:ext cx="411480" cy="4572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4251960" y="2468880"/>
            <a:ext cx="411480" cy="4572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  <p:txBody>
          <a:bodyPr/>
          <a:lstStyle/>
          <a:p>
            <a:endParaRPr lang="en-PH"/>
          </a:p>
        </p:txBody>
      </p:sp>
      <p:sp>
        <p:nvSpPr>
          <p:cNvPr id="13" name="Shape 11"/>
          <p:cNvSpPr/>
          <p:nvPr/>
        </p:nvSpPr>
        <p:spPr>
          <a:xfrm>
            <a:off x="2788920" y="301752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EEF2F5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 txBox="1"/>
          <p:nvPr/>
        </p:nvSpPr>
        <p:spPr>
          <a:xfrm>
            <a:off x="2788920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won C?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377440" y="2514600"/>
            <a:ext cx="411480" cy="82296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 flipV="1">
            <a:off x="4251960" y="2514600"/>
            <a:ext cx="411480" cy="82296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4663440" y="205740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 txBox="1"/>
          <p:nvPr/>
        </p:nvSpPr>
        <p:spPr>
          <a:xfrm>
            <a:off x="4663440" y="20574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list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1280160"/>
            <a:ext cx="2606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is answered and fact-checked on its own.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“List all the projects” comes straight from the fact sheet.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adds up amounts as the currently used model has lesser compute model but does better doing multi-modal work.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checks its work instead of guessing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822960" cy="82296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1677010"/>
            <a:ext cx="395021" cy="39502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answer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600200" y="1874520"/>
            <a:ext cx="731520" cy="0"/>
          </a:xfrm>
          <a:prstGeom prst="line">
            <a:avLst/>
          </a:prstGeom>
          <a:noFill/>
          <a:ln w="28575">
            <a:solidFill>
              <a:srgbClr val="8A96A3"/>
            </a:solidFill>
            <a:prstDash val="solid"/>
            <a:tailEnd type="triangle"/>
          </a:ln>
        </p:spPr>
        <p:txBody>
          <a:bodyPr/>
          <a:lstStyle/>
          <a:p>
            <a:endParaRPr lang="en-PH"/>
          </a:p>
        </p:txBody>
      </p:sp>
      <p:sp>
        <p:nvSpPr>
          <p:cNvPr id="7" name="Shape 4"/>
          <p:cNvSpPr/>
          <p:nvPr/>
        </p:nvSpPr>
        <p:spPr>
          <a:xfrm>
            <a:off x="2423160" y="1325880"/>
            <a:ext cx="1097280" cy="1097280"/>
          </a:xfrm>
          <a:prstGeom prst="ellipse">
            <a:avLst/>
          </a:prstGeom>
          <a:solidFill>
            <a:srgbClr val="D9731A"/>
          </a:solidFill>
          <a:ln w="12700">
            <a:solidFill>
              <a:srgbClr val="D9731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8453" y="1611173"/>
            <a:ext cx="526694" cy="52669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148840" y="24871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Fact-checker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201168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it with the fact sheet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0" y="118872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E6F2EA"/>
          </a:solidFill>
          <a:ln w="12700">
            <a:solidFill>
              <a:srgbClr val="3B825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8"/>
          <p:cNvSpPr txBox="1"/>
          <p:nvPr/>
        </p:nvSpPr>
        <p:spPr>
          <a:xfrm>
            <a:off x="4754880" y="11887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B8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→ the answer is shown, with its sources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0" y="22860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BE9DA"/>
          </a:solidFill>
          <a:ln w="12700">
            <a:solidFill>
              <a:srgbClr val="D9731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0"/>
          <p:cNvSpPr txBox="1"/>
          <p:nvPr/>
        </p:nvSpPr>
        <p:spPr>
          <a:xfrm>
            <a:off x="4754880" y="22860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9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→ it looks again more widely. Still fails → it gives no answer (in effect “I don’t know”) and says why.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 flipV="1">
            <a:off x="3611880" y="1618488"/>
            <a:ext cx="960120" cy="73152"/>
          </a:xfrm>
          <a:prstGeom prst="line">
            <a:avLst/>
          </a:prstGeom>
          <a:noFill/>
          <a:ln w="22225">
            <a:solidFill>
              <a:srgbClr val="8A96A3"/>
            </a:solidFill>
            <a:prstDash val="solid"/>
            <a:tailEnd type="triangle"/>
          </a:ln>
        </p:spPr>
        <p:txBody>
          <a:bodyPr/>
          <a:lstStyle/>
          <a:p>
            <a:endParaRPr lang="en-PH"/>
          </a:p>
        </p:txBody>
      </p:sp>
      <p:sp>
        <p:nvSpPr>
          <p:cNvPr id="16" name="Shape 12"/>
          <p:cNvSpPr/>
          <p:nvPr/>
        </p:nvSpPr>
        <p:spPr>
          <a:xfrm>
            <a:off x="3611880" y="2103120"/>
            <a:ext cx="960120" cy="731520"/>
          </a:xfrm>
          <a:prstGeom prst="line">
            <a:avLst/>
          </a:prstGeom>
          <a:noFill/>
          <a:ln w="22225">
            <a:solidFill>
              <a:srgbClr val="8A96A3"/>
            </a:solidFill>
            <a:prstDash val="solid"/>
            <a:tailEnd type="triangle"/>
          </a:ln>
        </p:spPr>
        <p:txBody>
          <a:bodyPr/>
          <a:lstStyle/>
          <a:p>
            <a:endParaRPr lang="en-PH"/>
          </a:p>
        </p:txBody>
      </p:sp>
      <p:sp>
        <p:nvSpPr>
          <p:cNvPr id="17" name="Text 13"/>
          <p:cNvSpPr txBox="1"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catches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D9731A"/>
          </a:solidFill>
          <a:ln w="12700">
            <a:solidFill>
              <a:srgbClr val="D9731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4142232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51560" y="3977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 that doesn’t exist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663440" y="4023360"/>
            <a:ext cx="457200" cy="457200"/>
          </a:xfrm>
          <a:prstGeom prst="ellipse">
            <a:avLst/>
          </a:prstGeom>
          <a:solidFill>
            <a:srgbClr val="D9731A"/>
          </a:solidFill>
          <a:ln w="12700">
            <a:solidFill>
              <a:srgbClr val="D9731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312" y="414223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257800" y="3977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 put in the wrong place or given the wrong contractor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know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51460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12700">
            <a:solidFill>
              <a:srgbClr val="DDE7E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640080" cy="64008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5380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3716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page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031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B7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of 20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8346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single-fact test questions: the page holding the answer was found every time.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4023360" cy="251460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12700">
            <a:solidFill>
              <a:srgbClr val="DDE7E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Shape 7"/>
          <p:cNvSpPr/>
          <p:nvPr/>
        </p:nvSpPr>
        <p:spPr>
          <a:xfrm>
            <a:off x="4937760" y="1371600"/>
            <a:ext cx="640080" cy="640080"/>
          </a:xfrm>
          <a:prstGeom prst="ellipse">
            <a:avLst/>
          </a:prstGeom>
          <a:solidFill>
            <a:srgbClr val="D9731A"/>
          </a:solidFill>
          <a:ln w="12700">
            <a:solidFill>
              <a:srgbClr val="D9731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181" y="15380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15000" y="13716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the full answer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1031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D97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of 9</a:t>
            </a:r>
            <a:endParaRPr lang="en-US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28346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questions answered correctly and fact-checked, including both trick questions it should refuse.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BE9DA"/>
          </a:solidFill>
          <a:ln w="12700">
            <a:solidFill>
              <a:srgbClr val="FBE9D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Text 12"/>
          <p:cNvSpPr txBox="1"/>
          <p:nvPr/>
        </p:nvSpPr>
        <p:spPr>
          <a:xfrm>
            <a:off x="640080" y="3886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progress: one answer about three contracts left one out, and one two-part answer was held back by the fact-checker.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it’s built this way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263545"/>
          </a:solidFill>
          <a:ln w="12700">
            <a:solidFill>
              <a:srgbClr val="35485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94360" cy="59436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4" y="15718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716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one modest computer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057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service or data centre needed.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263545"/>
          </a:solidFill>
          <a:ln w="12700">
            <a:solidFill>
              <a:srgbClr val="35485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Shape 6"/>
          <p:cNvSpPr/>
          <p:nvPr/>
        </p:nvSpPr>
        <p:spPr>
          <a:xfrm>
            <a:off x="4892040" y="1417320"/>
            <a:ext cx="594360" cy="59436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574" y="15718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3716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data local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2057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and questions are processed on that computer, not sent to an outside AI service.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57200" y="30175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263545"/>
          </a:solidFill>
          <a:ln w="12700">
            <a:solidFill>
              <a:srgbClr val="35485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Shape 10"/>
          <p:cNvSpPr/>
          <p:nvPr/>
        </p:nvSpPr>
        <p:spPr>
          <a:xfrm>
            <a:off x="685800" y="3246120"/>
            <a:ext cx="594360" cy="59436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4" y="340065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2004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 the official transcription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3886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come only from the typed record of the bid documents.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4663440" y="30175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263545"/>
          </a:solidFill>
          <a:ln w="12700">
            <a:solidFill>
              <a:srgbClr val="35485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Shape 14"/>
          <p:cNvSpPr/>
          <p:nvPr/>
        </p:nvSpPr>
        <p:spPr>
          <a:xfrm>
            <a:off x="4892040" y="3246120"/>
            <a:ext cx="594360" cy="594360"/>
          </a:xfrm>
          <a:prstGeom prst="ellipse">
            <a:avLst/>
          </a:prstGeom>
          <a:solidFill>
            <a:srgbClr val="D9731A"/>
          </a:solidFill>
          <a:ln w="12700">
            <a:solidFill>
              <a:srgbClr val="D9731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6574" y="340065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69280" y="32004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the maths to others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669280" y="3886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finds and checks facts; adding up amounts is left to stronger models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1714</Words>
  <Application>Microsoft Office PowerPoint</Application>
  <PresentationFormat>On-screen Show (16:9)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Asking questions of the bid documents</dc:title>
  <dc:subject>PptxGenJS Presentation</dc:subject>
  <dc:creator>PptxGenJS</dc:creator>
  <cp:lastModifiedBy>Renaire Odarve</cp:lastModifiedBy>
  <cp:revision>2</cp:revision>
  <dcterms:created xsi:type="dcterms:W3CDTF">2026-09-24T15:08:03Z</dcterms:created>
  <dcterms:modified xsi:type="dcterms:W3CDTF">2026-09-24T15:13:22Z</dcterms:modified>
</cp:coreProperties>
</file>